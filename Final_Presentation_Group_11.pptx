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73" r:id="rId6"/>
    <p:sldId id="260" r:id="rId7"/>
    <p:sldId id="264" r:id="rId8"/>
    <p:sldId id="261" r:id="rId9"/>
    <p:sldId id="268" r:id="rId10"/>
    <p:sldId id="269" r:id="rId11"/>
    <p:sldId id="262" r:id="rId12"/>
    <p:sldId id="270" r:id="rId13"/>
    <p:sldId id="271" r:id="rId14"/>
    <p:sldId id="263" r:id="rId15"/>
    <p:sldId id="265" r:id="rId16"/>
    <p:sldId id="272" r:id="rId17"/>
    <p:sldId id="266" r:id="rId18"/>
    <p:sldId id="267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86" autoAdjust="0"/>
    <p:restoredTop sz="94660"/>
  </p:normalViewPr>
  <p:slideViewPr>
    <p:cSldViewPr snapToGrid="0">
      <p:cViewPr>
        <p:scale>
          <a:sx n="66" d="100"/>
          <a:sy n="66" d="100"/>
        </p:scale>
        <p:origin x="544" y="-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4195A0C-792E-44BC-9157-299C5451E07E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D7A5DFA-EC12-4CFA-9A6F-388600EC012C}">
      <dgm:prSet/>
      <dgm:spPr/>
      <dgm:t>
        <a:bodyPr/>
        <a:lstStyle/>
        <a:p>
          <a:r>
            <a:rPr lang="en-US"/>
            <a:t>Model is good at predicting no rain but struggles with rainy days. </a:t>
          </a:r>
        </a:p>
      </dgm:t>
    </dgm:pt>
    <dgm:pt modelId="{398CE8FA-E1E1-4331-A8DC-9170FF39F3D6}" type="parTrans" cxnId="{63CF0D14-3C6D-42C7-81BA-DB64EF70CEDA}">
      <dgm:prSet/>
      <dgm:spPr/>
      <dgm:t>
        <a:bodyPr/>
        <a:lstStyle/>
        <a:p>
          <a:endParaRPr lang="en-US"/>
        </a:p>
      </dgm:t>
    </dgm:pt>
    <dgm:pt modelId="{772FC943-03CC-48CF-BA50-BA64805664CE}" type="sibTrans" cxnId="{63CF0D14-3C6D-42C7-81BA-DB64EF70CEDA}">
      <dgm:prSet/>
      <dgm:spPr/>
      <dgm:t>
        <a:bodyPr/>
        <a:lstStyle/>
        <a:p>
          <a:endParaRPr lang="en-US"/>
        </a:p>
      </dgm:t>
    </dgm:pt>
    <dgm:pt modelId="{4C123735-E892-4758-A228-E80588AA1D31}">
      <dgm:prSet/>
      <dgm:spPr/>
      <dgm:t>
        <a:bodyPr/>
        <a:lstStyle/>
        <a:p>
          <a:r>
            <a:rPr lang="en-US"/>
            <a:t>Accuracy is a bit skewed since a model that mostly predicts no rain will have a high accuracy. </a:t>
          </a:r>
        </a:p>
      </dgm:t>
    </dgm:pt>
    <dgm:pt modelId="{03BB8B51-31C0-4EBA-AAFF-FC9B69651E96}" type="parTrans" cxnId="{A5EBD2D1-AFD6-4A75-B391-F847DFD4BE24}">
      <dgm:prSet/>
      <dgm:spPr/>
      <dgm:t>
        <a:bodyPr/>
        <a:lstStyle/>
        <a:p>
          <a:endParaRPr lang="en-US"/>
        </a:p>
      </dgm:t>
    </dgm:pt>
    <dgm:pt modelId="{5D076BAA-8E87-4456-86B8-C3A98BA5F9ED}" type="sibTrans" cxnId="{A5EBD2D1-AFD6-4A75-B391-F847DFD4BE24}">
      <dgm:prSet/>
      <dgm:spPr/>
      <dgm:t>
        <a:bodyPr/>
        <a:lstStyle/>
        <a:p>
          <a:endParaRPr lang="en-US"/>
        </a:p>
      </dgm:t>
    </dgm:pt>
    <dgm:pt modelId="{D13F8257-74E3-4C22-A805-6AFFF5741C5B}">
      <dgm:prSet/>
      <dgm:spPr/>
      <dgm:t>
        <a:bodyPr/>
        <a:lstStyle/>
        <a:p>
          <a:r>
            <a:rPr lang="en-US" dirty="0"/>
            <a:t>Using rain because it is the least imbalanced of the weather conditions.</a:t>
          </a:r>
        </a:p>
      </dgm:t>
    </dgm:pt>
    <dgm:pt modelId="{A43D0950-AA50-4DB5-B56B-3E22DB304F6F}" type="parTrans" cxnId="{538FECF7-5ED0-4F39-B842-97BB132A4924}">
      <dgm:prSet/>
      <dgm:spPr/>
      <dgm:t>
        <a:bodyPr/>
        <a:lstStyle/>
        <a:p>
          <a:endParaRPr lang="en-US"/>
        </a:p>
      </dgm:t>
    </dgm:pt>
    <dgm:pt modelId="{D1C4972E-F96C-48C6-850C-7A993A0F71F5}" type="sibTrans" cxnId="{538FECF7-5ED0-4F39-B842-97BB132A4924}">
      <dgm:prSet/>
      <dgm:spPr/>
      <dgm:t>
        <a:bodyPr/>
        <a:lstStyle/>
        <a:p>
          <a:endParaRPr lang="en-US"/>
        </a:p>
      </dgm:t>
    </dgm:pt>
    <dgm:pt modelId="{4B331E92-3073-4299-BC9E-45298DDED289}" type="pres">
      <dgm:prSet presAssocID="{D4195A0C-792E-44BC-9157-299C5451E07E}" presName="vert0" presStyleCnt="0">
        <dgm:presLayoutVars>
          <dgm:dir/>
          <dgm:animOne val="branch"/>
          <dgm:animLvl val="lvl"/>
        </dgm:presLayoutVars>
      </dgm:prSet>
      <dgm:spPr/>
    </dgm:pt>
    <dgm:pt modelId="{E944ADF4-52A2-47AE-BC45-6E00E941737E}" type="pres">
      <dgm:prSet presAssocID="{2D7A5DFA-EC12-4CFA-9A6F-388600EC012C}" presName="thickLine" presStyleLbl="alignNode1" presStyleIdx="0" presStyleCnt="3"/>
      <dgm:spPr/>
    </dgm:pt>
    <dgm:pt modelId="{0A9CD79C-FCC1-49BA-A340-4D21A3576461}" type="pres">
      <dgm:prSet presAssocID="{2D7A5DFA-EC12-4CFA-9A6F-388600EC012C}" presName="horz1" presStyleCnt="0"/>
      <dgm:spPr/>
    </dgm:pt>
    <dgm:pt modelId="{9C43D6A8-06BB-4D68-80DB-7915A2317443}" type="pres">
      <dgm:prSet presAssocID="{2D7A5DFA-EC12-4CFA-9A6F-388600EC012C}" presName="tx1" presStyleLbl="revTx" presStyleIdx="0" presStyleCnt="3"/>
      <dgm:spPr/>
    </dgm:pt>
    <dgm:pt modelId="{45EEB17C-7E0C-4047-B12E-0AEA4FBAC9CC}" type="pres">
      <dgm:prSet presAssocID="{2D7A5DFA-EC12-4CFA-9A6F-388600EC012C}" presName="vert1" presStyleCnt="0"/>
      <dgm:spPr/>
    </dgm:pt>
    <dgm:pt modelId="{71F40147-A60D-4A69-94E2-64790499F9BD}" type="pres">
      <dgm:prSet presAssocID="{4C123735-E892-4758-A228-E80588AA1D31}" presName="thickLine" presStyleLbl="alignNode1" presStyleIdx="1" presStyleCnt="3"/>
      <dgm:spPr/>
    </dgm:pt>
    <dgm:pt modelId="{731FA9B5-5CDF-4B02-AD83-9F0092EF56E0}" type="pres">
      <dgm:prSet presAssocID="{4C123735-E892-4758-A228-E80588AA1D31}" presName="horz1" presStyleCnt="0"/>
      <dgm:spPr/>
    </dgm:pt>
    <dgm:pt modelId="{4B419415-C36A-467D-9370-B615E9E2E8DE}" type="pres">
      <dgm:prSet presAssocID="{4C123735-E892-4758-A228-E80588AA1D31}" presName="tx1" presStyleLbl="revTx" presStyleIdx="1" presStyleCnt="3"/>
      <dgm:spPr/>
    </dgm:pt>
    <dgm:pt modelId="{F59952D7-6B13-4EE1-9266-A80D28E5F894}" type="pres">
      <dgm:prSet presAssocID="{4C123735-E892-4758-A228-E80588AA1D31}" presName="vert1" presStyleCnt="0"/>
      <dgm:spPr/>
    </dgm:pt>
    <dgm:pt modelId="{98D3743C-8B43-4468-BC8D-D73590AEA504}" type="pres">
      <dgm:prSet presAssocID="{D13F8257-74E3-4C22-A805-6AFFF5741C5B}" presName="thickLine" presStyleLbl="alignNode1" presStyleIdx="2" presStyleCnt="3"/>
      <dgm:spPr/>
    </dgm:pt>
    <dgm:pt modelId="{5E97EEDF-B858-453A-ADA6-0C1971C69A2F}" type="pres">
      <dgm:prSet presAssocID="{D13F8257-74E3-4C22-A805-6AFFF5741C5B}" presName="horz1" presStyleCnt="0"/>
      <dgm:spPr/>
    </dgm:pt>
    <dgm:pt modelId="{38C56D11-1221-4EBB-8AE5-4F4F2FA3E9F7}" type="pres">
      <dgm:prSet presAssocID="{D13F8257-74E3-4C22-A805-6AFFF5741C5B}" presName="tx1" presStyleLbl="revTx" presStyleIdx="2" presStyleCnt="3"/>
      <dgm:spPr/>
    </dgm:pt>
    <dgm:pt modelId="{2E579F37-C9EB-4BCB-B68B-3DFED5C13349}" type="pres">
      <dgm:prSet presAssocID="{D13F8257-74E3-4C22-A805-6AFFF5741C5B}" presName="vert1" presStyleCnt="0"/>
      <dgm:spPr/>
    </dgm:pt>
  </dgm:ptLst>
  <dgm:cxnLst>
    <dgm:cxn modelId="{BD60AB07-542B-421E-A6B4-BE972E5C0338}" type="presOf" srcId="{D4195A0C-792E-44BC-9157-299C5451E07E}" destId="{4B331E92-3073-4299-BC9E-45298DDED289}" srcOrd="0" destOrd="0" presId="urn:microsoft.com/office/officeart/2008/layout/LinedList"/>
    <dgm:cxn modelId="{63CF0D14-3C6D-42C7-81BA-DB64EF70CEDA}" srcId="{D4195A0C-792E-44BC-9157-299C5451E07E}" destId="{2D7A5DFA-EC12-4CFA-9A6F-388600EC012C}" srcOrd="0" destOrd="0" parTransId="{398CE8FA-E1E1-4331-A8DC-9170FF39F3D6}" sibTransId="{772FC943-03CC-48CF-BA50-BA64805664CE}"/>
    <dgm:cxn modelId="{01BA1D69-589E-4891-9F43-BE0B55555151}" type="presOf" srcId="{2D7A5DFA-EC12-4CFA-9A6F-388600EC012C}" destId="{9C43D6A8-06BB-4D68-80DB-7915A2317443}" srcOrd="0" destOrd="0" presId="urn:microsoft.com/office/officeart/2008/layout/LinedList"/>
    <dgm:cxn modelId="{F9D6AF72-D73B-4C58-B3FF-E9AC7856B281}" type="presOf" srcId="{4C123735-E892-4758-A228-E80588AA1D31}" destId="{4B419415-C36A-467D-9370-B615E9E2E8DE}" srcOrd="0" destOrd="0" presId="urn:microsoft.com/office/officeart/2008/layout/LinedList"/>
    <dgm:cxn modelId="{A5EBD2D1-AFD6-4A75-B391-F847DFD4BE24}" srcId="{D4195A0C-792E-44BC-9157-299C5451E07E}" destId="{4C123735-E892-4758-A228-E80588AA1D31}" srcOrd="1" destOrd="0" parTransId="{03BB8B51-31C0-4EBA-AAFF-FC9B69651E96}" sibTransId="{5D076BAA-8E87-4456-86B8-C3A98BA5F9ED}"/>
    <dgm:cxn modelId="{89F1ADEB-CDBE-43FD-B517-E5A6CAEC9541}" type="presOf" srcId="{D13F8257-74E3-4C22-A805-6AFFF5741C5B}" destId="{38C56D11-1221-4EBB-8AE5-4F4F2FA3E9F7}" srcOrd="0" destOrd="0" presId="urn:microsoft.com/office/officeart/2008/layout/LinedList"/>
    <dgm:cxn modelId="{538FECF7-5ED0-4F39-B842-97BB132A4924}" srcId="{D4195A0C-792E-44BC-9157-299C5451E07E}" destId="{D13F8257-74E3-4C22-A805-6AFFF5741C5B}" srcOrd="2" destOrd="0" parTransId="{A43D0950-AA50-4DB5-B56B-3E22DB304F6F}" sibTransId="{D1C4972E-F96C-48C6-850C-7A993A0F71F5}"/>
    <dgm:cxn modelId="{D224B71F-2FA1-4ED5-9F72-F6CC5B7AEA11}" type="presParOf" srcId="{4B331E92-3073-4299-BC9E-45298DDED289}" destId="{E944ADF4-52A2-47AE-BC45-6E00E941737E}" srcOrd="0" destOrd="0" presId="urn:microsoft.com/office/officeart/2008/layout/LinedList"/>
    <dgm:cxn modelId="{633C38A5-045D-477A-BD08-2E61E9FDE9CE}" type="presParOf" srcId="{4B331E92-3073-4299-BC9E-45298DDED289}" destId="{0A9CD79C-FCC1-49BA-A340-4D21A3576461}" srcOrd="1" destOrd="0" presId="urn:microsoft.com/office/officeart/2008/layout/LinedList"/>
    <dgm:cxn modelId="{33DE2C9C-9B9F-4C66-9DE0-8E0703720845}" type="presParOf" srcId="{0A9CD79C-FCC1-49BA-A340-4D21A3576461}" destId="{9C43D6A8-06BB-4D68-80DB-7915A2317443}" srcOrd="0" destOrd="0" presId="urn:microsoft.com/office/officeart/2008/layout/LinedList"/>
    <dgm:cxn modelId="{97A1FBF1-D697-4762-9AB7-4CC9EFD20A8C}" type="presParOf" srcId="{0A9CD79C-FCC1-49BA-A340-4D21A3576461}" destId="{45EEB17C-7E0C-4047-B12E-0AEA4FBAC9CC}" srcOrd="1" destOrd="0" presId="urn:microsoft.com/office/officeart/2008/layout/LinedList"/>
    <dgm:cxn modelId="{0D15BADD-4C8C-4875-B783-DB550B3BDA0E}" type="presParOf" srcId="{4B331E92-3073-4299-BC9E-45298DDED289}" destId="{71F40147-A60D-4A69-94E2-64790499F9BD}" srcOrd="2" destOrd="0" presId="urn:microsoft.com/office/officeart/2008/layout/LinedList"/>
    <dgm:cxn modelId="{899AB408-48AB-410E-A779-CDD9A0B9A68E}" type="presParOf" srcId="{4B331E92-3073-4299-BC9E-45298DDED289}" destId="{731FA9B5-5CDF-4B02-AD83-9F0092EF56E0}" srcOrd="3" destOrd="0" presId="urn:microsoft.com/office/officeart/2008/layout/LinedList"/>
    <dgm:cxn modelId="{935E4D2E-3DEA-4F56-A859-75747745BDED}" type="presParOf" srcId="{731FA9B5-5CDF-4B02-AD83-9F0092EF56E0}" destId="{4B419415-C36A-467D-9370-B615E9E2E8DE}" srcOrd="0" destOrd="0" presId="urn:microsoft.com/office/officeart/2008/layout/LinedList"/>
    <dgm:cxn modelId="{D6F6CB1B-241F-4A79-A5E8-1BD46B96A22A}" type="presParOf" srcId="{731FA9B5-5CDF-4B02-AD83-9F0092EF56E0}" destId="{F59952D7-6B13-4EE1-9266-A80D28E5F894}" srcOrd="1" destOrd="0" presId="urn:microsoft.com/office/officeart/2008/layout/LinedList"/>
    <dgm:cxn modelId="{BED1EF06-16CB-4658-88D9-913FBDB5813D}" type="presParOf" srcId="{4B331E92-3073-4299-BC9E-45298DDED289}" destId="{98D3743C-8B43-4468-BC8D-D73590AEA504}" srcOrd="4" destOrd="0" presId="urn:microsoft.com/office/officeart/2008/layout/LinedList"/>
    <dgm:cxn modelId="{EFB989C2-6712-4481-B802-A4214FDC23D7}" type="presParOf" srcId="{4B331E92-3073-4299-BC9E-45298DDED289}" destId="{5E97EEDF-B858-453A-ADA6-0C1971C69A2F}" srcOrd="5" destOrd="0" presId="urn:microsoft.com/office/officeart/2008/layout/LinedList"/>
    <dgm:cxn modelId="{C60EACCC-445C-4799-B39E-C0D7010E0308}" type="presParOf" srcId="{5E97EEDF-B858-453A-ADA6-0C1971C69A2F}" destId="{38C56D11-1221-4EBB-8AE5-4F4F2FA3E9F7}" srcOrd="0" destOrd="0" presId="urn:microsoft.com/office/officeart/2008/layout/LinedList"/>
    <dgm:cxn modelId="{7A3895BB-F786-4AB8-8BB2-67349168A0A2}" type="presParOf" srcId="{5E97EEDF-B858-453A-ADA6-0C1971C69A2F}" destId="{2E579F37-C9EB-4BCB-B68B-3DFED5C1334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44ADF4-52A2-47AE-BC45-6E00E941737E}">
      <dsp:nvSpPr>
        <dsp:cNvPr id="0" name=""/>
        <dsp:cNvSpPr/>
      </dsp:nvSpPr>
      <dsp:spPr>
        <a:xfrm>
          <a:off x="0" y="1938"/>
          <a:ext cx="538709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43D6A8-06BB-4D68-80DB-7915A2317443}">
      <dsp:nvSpPr>
        <dsp:cNvPr id="0" name=""/>
        <dsp:cNvSpPr/>
      </dsp:nvSpPr>
      <dsp:spPr>
        <a:xfrm>
          <a:off x="0" y="1938"/>
          <a:ext cx="5387090" cy="13221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Model is good at predicting no rain but struggles with rainy days. </a:t>
          </a:r>
        </a:p>
      </dsp:txBody>
      <dsp:txXfrm>
        <a:off x="0" y="1938"/>
        <a:ext cx="5387090" cy="1322146"/>
      </dsp:txXfrm>
    </dsp:sp>
    <dsp:sp modelId="{71F40147-A60D-4A69-94E2-64790499F9BD}">
      <dsp:nvSpPr>
        <dsp:cNvPr id="0" name=""/>
        <dsp:cNvSpPr/>
      </dsp:nvSpPr>
      <dsp:spPr>
        <a:xfrm>
          <a:off x="0" y="1324085"/>
          <a:ext cx="538709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419415-C36A-467D-9370-B615E9E2E8DE}">
      <dsp:nvSpPr>
        <dsp:cNvPr id="0" name=""/>
        <dsp:cNvSpPr/>
      </dsp:nvSpPr>
      <dsp:spPr>
        <a:xfrm>
          <a:off x="0" y="1324085"/>
          <a:ext cx="5387090" cy="13221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Accuracy is a bit skewed since a model that mostly predicts no rain will have a high accuracy. </a:t>
          </a:r>
        </a:p>
      </dsp:txBody>
      <dsp:txXfrm>
        <a:off x="0" y="1324085"/>
        <a:ext cx="5387090" cy="1322146"/>
      </dsp:txXfrm>
    </dsp:sp>
    <dsp:sp modelId="{98D3743C-8B43-4468-BC8D-D73590AEA504}">
      <dsp:nvSpPr>
        <dsp:cNvPr id="0" name=""/>
        <dsp:cNvSpPr/>
      </dsp:nvSpPr>
      <dsp:spPr>
        <a:xfrm>
          <a:off x="0" y="2646232"/>
          <a:ext cx="538709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C56D11-1221-4EBB-8AE5-4F4F2FA3E9F7}">
      <dsp:nvSpPr>
        <dsp:cNvPr id="0" name=""/>
        <dsp:cNvSpPr/>
      </dsp:nvSpPr>
      <dsp:spPr>
        <a:xfrm>
          <a:off x="0" y="2646232"/>
          <a:ext cx="5387090" cy="13221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Using rain because it is the least imbalanced of the weather conditions.</a:t>
          </a:r>
        </a:p>
      </dsp:txBody>
      <dsp:txXfrm>
        <a:off x="0" y="2646232"/>
        <a:ext cx="5387090" cy="132214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2B5A2B-4E03-46B3-ACD2-E880B89D47F2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EECE09-5550-46C0-A323-5FDC6A8286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5829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EECE09-5550-46C0-A323-5FDC6A8286A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640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EECE09-5550-46C0-A323-5FDC6A8286A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5698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A01A2CF-24C7-4504-A14E-BBA9D2FE0719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118A5591-1AC7-4F32-A6AB-2EE0CC07BA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5255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1A2CF-24C7-4504-A14E-BBA9D2FE0719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A5591-1AC7-4F32-A6AB-2EE0CC07BA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1154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1A2CF-24C7-4504-A14E-BBA9D2FE0719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A5591-1AC7-4F32-A6AB-2EE0CC07BA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3348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1A2CF-24C7-4504-A14E-BBA9D2FE0719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A5591-1AC7-4F32-A6AB-2EE0CC07BA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173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1A2CF-24C7-4504-A14E-BBA9D2FE0719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A5591-1AC7-4F32-A6AB-2EE0CC07BA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739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1A2CF-24C7-4504-A14E-BBA9D2FE0719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A5591-1AC7-4F32-A6AB-2EE0CC07BA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743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1A2CF-24C7-4504-A14E-BBA9D2FE0719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A5591-1AC7-4F32-A6AB-2EE0CC07BA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8690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1A2CF-24C7-4504-A14E-BBA9D2FE0719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A5591-1AC7-4F32-A6AB-2EE0CC07BA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8148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1A2CF-24C7-4504-A14E-BBA9D2FE0719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A5591-1AC7-4F32-A6AB-2EE0CC07BA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9369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1A2CF-24C7-4504-A14E-BBA9D2FE0719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A5591-1AC7-4F32-A6AB-2EE0CC07BA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2608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1A2CF-24C7-4504-A14E-BBA9D2FE0719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A5591-1AC7-4F32-A6AB-2EE0CC07BA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7101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1A2CF-24C7-4504-A14E-BBA9D2FE0719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A5591-1AC7-4F32-A6AB-2EE0CC07BA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6741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1A2CF-24C7-4504-A14E-BBA9D2FE0719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A5591-1AC7-4F32-A6AB-2EE0CC07BA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2383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1A2CF-24C7-4504-A14E-BBA9D2FE0719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A5591-1AC7-4F32-A6AB-2EE0CC07BA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8203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1A2CF-24C7-4504-A14E-BBA9D2FE0719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A5591-1AC7-4F32-A6AB-2EE0CC07BA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5836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1A2CF-24C7-4504-A14E-BBA9D2FE0719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A5591-1AC7-4F32-A6AB-2EE0CC07BAE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25414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1A2CF-24C7-4504-A14E-BBA9D2FE0719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A5591-1AC7-4F32-A6AB-2EE0CC07BA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4697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A01A2CF-24C7-4504-A14E-BBA9D2FE0719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18A5591-1AC7-4F32-A6AB-2EE0CC07BA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89290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DE339-D4C2-5C85-3B44-8995B73614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Weather Forecasting using Bayesian Networks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89CA38-05EF-B4BE-97B3-5A54BC60502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Group 11</a:t>
            </a:r>
          </a:p>
        </p:txBody>
      </p:sp>
    </p:spTree>
    <p:extLst>
      <p:ext uri="{BB962C8B-B14F-4D97-AF65-F5344CB8AC3E}">
        <p14:creationId xmlns:p14="http://schemas.microsoft.com/office/powerpoint/2010/main" val="2842381256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500A2-0C55-52B8-17B5-EBD677FCD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53C709-EDCE-8708-6994-DD30A75C8E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2400" dirty="0"/>
              <a:t>Given meteorological data, use a Bayesian Network to model the weather variables to forecast future weather conditions.</a:t>
            </a:r>
          </a:p>
          <a:p>
            <a:pPr>
              <a:lnSpc>
                <a:spcPct val="200000"/>
              </a:lnSpc>
            </a:pPr>
            <a:r>
              <a:rPr lang="en-US" sz="2400" dirty="0"/>
              <a:t>What are we interested in?</a:t>
            </a:r>
          </a:p>
          <a:p>
            <a:pPr lvl="1">
              <a:lnSpc>
                <a:spcPct val="200000"/>
              </a:lnSpc>
            </a:pPr>
            <a:r>
              <a:rPr lang="en-US" sz="2000" dirty="0"/>
              <a:t>Predicting key weather events: Fog, rain, snow, and thunder.</a:t>
            </a:r>
          </a:p>
        </p:txBody>
      </p:sp>
    </p:spTree>
    <p:extLst>
      <p:ext uri="{BB962C8B-B14F-4D97-AF65-F5344CB8AC3E}">
        <p14:creationId xmlns:p14="http://schemas.microsoft.com/office/powerpoint/2010/main" val="168545156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9F6CF-2A61-44F5-D7EC-3E642B6B7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Dataset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A203BE-A50D-D147-0EFF-97136D652E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200000"/>
              </a:lnSpc>
            </a:pPr>
            <a:r>
              <a:rPr lang="en-US" sz="2000" dirty="0"/>
              <a:t>NSOD 2002 data: 2,788,413 data points from 9,000 weather stations across the world.</a:t>
            </a:r>
          </a:p>
          <a:p>
            <a:pPr>
              <a:lnSpc>
                <a:spcPct val="200000"/>
              </a:lnSpc>
            </a:pPr>
            <a:r>
              <a:rPr lang="en-US" sz="2000" dirty="0"/>
              <a:t>Issue: Weather data contains continuous variables such as temperature, sea-level pressure, mean wind speed, dew point, and precipitation.</a:t>
            </a:r>
          </a:p>
          <a:p>
            <a:pPr>
              <a:lnSpc>
                <a:spcPct val="200000"/>
              </a:lnSpc>
            </a:pPr>
            <a:r>
              <a:rPr lang="en-US" sz="2000" dirty="0"/>
              <a:t>Solution: Discretize the variables by creating categories and assigning ranges to organize them.</a:t>
            </a:r>
          </a:p>
          <a:p>
            <a:pPr lvl="1">
              <a:lnSpc>
                <a:spcPct val="200000"/>
              </a:lnSpc>
            </a:pPr>
            <a:r>
              <a:rPr lang="en-US" sz="1800" dirty="0"/>
              <a:t>Example: Temperature (°F): cold &lt; 32, warm &gt; 75, else avg.</a:t>
            </a:r>
          </a:p>
        </p:txBody>
      </p:sp>
    </p:spTree>
    <p:extLst>
      <p:ext uri="{BB962C8B-B14F-4D97-AF65-F5344CB8AC3E}">
        <p14:creationId xmlns:p14="http://schemas.microsoft.com/office/powerpoint/2010/main" val="384852606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6AF6706C-CF07-43A1-BCC4-CBA5D3382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9C946AC-2072-4946-A2B8-39F09D0944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748C8C8-F348-4D00-852A-26DD9EBCC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555"/>
          <a:stretch/>
        </p:blipFill>
        <p:spPr>
          <a:xfrm>
            <a:off x="0" y="0"/>
            <a:ext cx="6026763" cy="68562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DC6545A-68E9-B192-EC27-82178C589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848" y="104899"/>
            <a:ext cx="4513792" cy="281939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800" dirty="0">
                <a:solidFill>
                  <a:srgbClr val="FFFFFF"/>
                </a:solidFill>
              </a:rPr>
              <a:t>Static BN Structure</a:t>
            </a:r>
          </a:p>
        </p:txBody>
      </p:sp>
      <p:sp useBgFill="1">
        <p:nvSpPr>
          <p:cNvPr id="16" name="Freeform 5">
            <a:extLst>
              <a:ext uri="{FF2B5EF4-FFF2-40B4-BE49-F238E27FC236}">
                <a16:creationId xmlns:a16="http://schemas.microsoft.com/office/drawing/2014/main" id="{559FD8B5-8CC4-4CFE-BD2A-1216B1F2C3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5827529" y="660400"/>
            <a:ext cx="6381405" cy="6214533"/>
          </a:xfrm>
          <a:custGeom>
            <a:avLst/>
            <a:gdLst>
              <a:gd name="T0" fmla="*/ 1333 w 1333"/>
              <a:gd name="T1" fmla="*/ 1031 h 1298"/>
              <a:gd name="T2" fmla="*/ 1333 w 1333"/>
              <a:gd name="T3" fmla="*/ 380 h 1298"/>
              <a:gd name="T4" fmla="*/ 706 w 1333"/>
              <a:gd name="T5" fmla="*/ 0 h 1298"/>
              <a:gd name="T6" fmla="*/ 0 w 1333"/>
              <a:gd name="T7" fmla="*/ 706 h 1298"/>
              <a:gd name="T8" fmla="*/ 323 w 1333"/>
              <a:gd name="T9" fmla="*/ 1298 h 1298"/>
              <a:gd name="T10" fmla="*/ 1090 w 1333"/>
              <a:gd name="T11" fmla="*/ 1298 h 1298"/>
              <a:gd name="T12" fmla="*/ 1333 w 1333"/>
              <a:gd name="T13" fmla="*/ 1031 h 1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33" h="1298">
                <a:moveTo>
                  <a:pt x="1333" y="1031"/>
                </a:moveTo>
                <a:cubicBezTo>
                  <a:pt x="1333" y="380"/>
                  <a:pt x="1333" y="380"/>
                  <a:pt x="1333" y="380"/>
                </a:cubicBezTo>
                <a:cubicBezTo>
                  <a:pt x="1215" y="154"/>
                  <a:pt x="979" y="0"/>
                  <a:pt x="706" y="0"/>
                </a:cubicBezTo>
                <a:cubicBezTo>
                  <a:pt x="317" y="0"/>
                  <a:pt x="0" y="316"/>
                  <a:pt x="0" y="706"/>
                </a:cubicBezTo>
                <a:cubicBezTo>
                  <a:pt x="0" y="954"/>
                  <a:pt x="129" y="1172"/>
                  <a:pt x="323" y="1298"/>
                </a:cubicBezTo>
                <a:cubicBezTo>
                  <a:pt x="1090" y="1298"/>
                  <a:pt x="1090" y="1298"/>
                  <a:pt x="1090" y="1298"/>
                </a:cubicBezTo>
                <a:cubicBezTo>
                  <a:pt x="1193" y="1232"/>
                  <a:pt x="1276" y="1140"/>
                  <a:pt x="1333" y="1031"/>
                </a:cubicBezTo>
                <a:close/>
              </a:path>
            </a:pathLst>
          </a:cu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</a:pPr>
            <a:endParaRPr lang="en-US" sz="1600" cap="all"/>
          </a:p>
        </p:txBody>
      </p:sp>
      <p:sp>
        <p:nvSpPr>
          <p:cNvPr id="18" name="Freeform 14">
            <a:extLst>
              <a:ext uri="{FF2B5EF4-FFF2-40B4-BE49-F238E27FC236}">
                <a16:creationId xmlns:a16="http://schemas.microsoft.com/office/drawing/2014/main" id="{9ECF13F4-3D2A-4F2E-9BBD-3038670D21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81603" y="104899"/>
            <a:ext cx="6896713" cy="6005491"/>
          </a:xfrm>
          <a:custGeom>
            <a:avLst/>
            <a:gdLst>
              <a:gd name="connsiteX0" fmla="*/ 3912717 w 6896713"/>
              <a:gd name="connsiteY0" fmla="*/ 0 h 6005491"/>
              <a:gd name="connsiteX1" fmla="*/ 6679426 w 6896713"/>
              <a:gd name="connsiteY1" fmla="*/ 1146008 h 6005491"/>
              <a:gd name="connsiteX2" fmla="*/ 6896713 w 6896713"/>
              <a:gd name="connsiteY2" fmla="*/ 1385085 h 6005491"/>
              <a:gd name="connsiteX3" fmla="*/ 6896713 w 6896713"/>
              <a:gd name="connsiteY3" fmla="*/ 1431256 h 6005491"/>
              <a:gd name="connsiteX4" fmla="*/ 6657442 w 6896713"/>
              <a:gd name="connsiteY4" fmla="*/ 1167992 h 6005491"/>
              <a:gd name="connsiteX5" fmla="*/ 3912717 w 6896713"/>
              <a:gd name="connsiteY5" fmla="*/ 31089 h 6005491"/>
              <a:gd name="connsiteX6" fmla="*/ 31089 w 6896713"/>
              <a:gd name="connsiteY6" fmla="*/ 3912717 h 6005491"/>
              <a:gd name="connsiteX7" fmla="*/ 593046 w 6896713"/>
              <a:gd name="connsiteY7" fmla="*/ 5925483 h 6005491"/>
              <a:gd name="connsiteX8" fmla="*/ 633874 w 6896713"/>
              <a:gd name="connsiteY8" fmla="*/ 5989169 h 6005491"/>
              <a:gd name="connsiteX9" fmla="*/ 607415 w 6896713"/>
              <a:gd name="connsiteY9" fmla="*/ 6005491 h 6005491"/>
              <a:gd name="connsiteX10" fmla="*/ 566458 w 6896713"/>
              <a:gd name="connsiteY10" fmla="*/ 5941603 h 6005491"/>
              <a:gd name="connsiteX11" fmla="*/ 0 w 6896713"/>
              <a:gd name="connsiteY11" fmla="*/ 3912717 h 6005491"/>
              <a:gd name="connsiteX12" fmla="*/ 3912717 w 6896713"/>
              <a:gd name="connsiteY12" fmla="*/ 0 h 6005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96713" h="6005491">
                <a:moveTo>
                  <a:pt x="3912717" y="0"/>
                </a:moveTo>
                <a:cubicBezTo>
                  <a:pt x="4993184" y="0"/>
                  <a:pt x="5971363" y="437946"/>
                  <a:pt x="6679426" y="1146008"/>
                </a:cubicBezTo>
                <a:lnTo>
                  <a:pt x="6896713" y="1385085"/>
                </a:lnTo>
                <a:lnTo>
                  <a:pt x="6896713" y="1431256"/>
                </a:lnTo>
                <a:lnTo>
                  <a:pt x="6657442" y="1167992"/>
                </a:lnTo>
                <a:cubicBezTo>
                  <a:pt x="5955006" y="465555"/>
                  <a:pt x="4984599" y="31089"/>
                  <a:pt x="3912717" y="31089"/>
                </a:cubicBezTo>
                <a:cubicBezTo>
                  <a:pt x="1768953" y="31089"/>
                  <a:pt x="31089" y="1768953"/>
                  <a:pt x="31089" y="3912717"/>
                </a:cubicBezTo>
                <a:cubicBezTo>
                  <a:pt x="31089" y="4649636"/>
                  <a:pt x="236442" y="5338592"/>
                  <a:pt x="593046" y="5925483"/>
                </a:cubicBezTo>
                <a:lnTo>
                  <a:pt x="633874" y="5989169"/>
                </a:lnTo>
                <a:lnTo>
                  <a:pt x="607415" y="6005491"/>
                </a:lnTo>
                <a:lnTo>
                  <a:pt x="566458" y="5941603"/>
                </a:lnTo>
                <a:cubicBezTo>
                  <a:pt x="206998" y="5350013"/>
                  <a:pt x="0" y="4655538"/>
                  <a:pt x="0" y="3912717"/>
                </a:cubicBezTo>
                <a:cubicBezTo>
                  <a:pt x="0" y="1751783"/>
                  <a:pt x="1751783" y="0"/>
                  <a:pt x="3912717" y="0"/>
                </a:cubicBezTo>
                <a:close/>
              </a:path>
            </a:pathLst>
          </a:custGeom>
          <a:solidFill>
            <a:srgbClr val="FFFFFF">
              <a:alpha val="4196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9660E16-DCC0-4B6C-8E84-4C29258005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516018" y="331504"/>
            <a:ext cx="6675982" cy="5235326"/>
            <a:chOff x="5516018" y="331504"/>
            <a:chExt cx="6675982" cy="5235326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9130F79-611E-4458-B53E-36A2572171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66830" y="33150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EA78691-46E9-469A-921B-9D16933EE1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20000" flipH="1">
              <a:off x="9408861" y="33832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A4AA196-3090-4283-ADF0-893F810858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40000" flipH="1">
              <a:off x="9551700" y="34763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FD33794-9D71-4B08-AE11-8B589EFBA2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360000" flipH="1">
              <a:off x="9688748" y="36808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38AFBF0E-867E-4181-93DF-9A13F334B0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540000" flipH="1">
              <a:off x="9824866" y="38922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C7EA8258-0459-4037-BABC-B1A0A5D705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660000" flipH="1">
              <a:off x="9966867" y="41754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E8BB355F-363A-4046-90AF-3DDB7AA184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780000" flipH="1">
              <a:off x="10104425" y="44587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A9334308-B9EC-41CF-8B6C-23FB134BA5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900000" flipH="1">
              <a:off x="10240513" y="47948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30781133-0656-4918-BE6A-703C148ED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080000" flipH="1">
              <a:off x="10373882" y="52435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6B4F93AD-8044-447B-8CAC-8A06971603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200000" flipH="1">
              <a:off x="10505632" y="57062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AA78689-5B7A-4420-A3DC-0EA0815835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320000" flipH="1">
              <a:off x="10637382" y="62134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09CC934-4D78-4334-8B7F-4D0C13D6C9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440000" flipH="1">
              <a:off x="10760965" y="69043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68DA411-6F43-42CF-8A08-B2871E3822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620000" flipH="1">
              <a:off x="10888991" y="75509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3417563A-04A5-4952-AA6D-E503558C54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740000" flipH="1">
              <a:off x="11010193" y="81974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4A41B232-E630-4AC7-9A97-763529D705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860000" flipH="1">
              <a:off x="11129014" y="895662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7EABA1A2-F7BA-4FB5-AD0A-A4DBBCF6F7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980000" flipH="1">
              <a:off x="11249872" y="96809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7EA99E51-908F-4D65-AC2B-A8E75A1FE4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160000" flipH="1">
              <a:off x="11366875" y="104808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5F2D126B-7D1C-4D2C-97D5-2D8C686B78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280000" flipH="1">
              <a:off x="11474058" y="113152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74B20164-1C4E-4FA3-A2E5-389E740773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400000" flipH="1">
              <a:off x="11583303" y="122179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C54E7AD9-228F-47CD-A598-CB579B489A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520000" flipH="1">
              <a:off x="11685344" y="1321772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D7D2B81A-6082-4668-8AA7-F2757C8EC2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700000" flipH="1">
              <a:off x="11787704" y="141763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1469BD5F-3BFE-4BA0-A24F-7F80A73B82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820000" flipH="1">
              <a:off x="11880859" y="151793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224D532A-F49F-4BB9-AAA6-8B2B89CB6F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940000" flipH="1">
              <a:off x="11969252" y="1627437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2224AE-40A4-483D-991E-9490A01B76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3060000" flipH="1">
              <a:off x="12062016" y="173601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DD3DE117-F3FA-4657-B4A7-40DE41238F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2074680" y="1910249"/>
              <a:ext cx="117320" cy="82912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D85EA1EB-1126-463C-AD87-4FB126C6FF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2149943" y="2083594"/>
              <a:ext cx="39676" cy="21436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90336723-7646-4B25-9EE9-519CC83342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80000" flipH="1">
              <a:off x="9127990" y="33425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652B6D8B-5579-4262-9376-B702382B0E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00000" flipH="1">
              <a:off x="8987576" y="33663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B07893BD-D1AE-48C1-91A9-D478793762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20000" flipH="1">
              <a:off x="8844859" y="35117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0C6FEEA5-8E66-4C31-92AD-01305FF488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40000" flipH="1">
              <a:off x="8706904" y="36571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D3E18335-591C-4354-9390-DD371BB3F9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720000" flipH="1">
              <a:off x="8568008" y="38789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151098D0-C2B4-4D61-92D5-C81DDBDA22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840000" flipH="1">
              <a:off x="8429112" y="41006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3EACD9C3-3E01-47CF-BC68-BDAE22E30B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960000" flipH="1">
              <a:off x="8294968" y="44621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80A5C950-6480-44E0-9D50-F193147D55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080000" flipH="1">
              <a:off x="8160824" y="48237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C68F1BDE-24EB-4308-AB69-F353C8598B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260000" flipH="1">
              <a:off x="8027689" y="53184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83E12EF-845B-41E6-BA82-F6CD46C0FE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380000" flipH="1">
              <a:off x="7894554" y="58132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E646EE72-4D70-46B4-B655-74722AAC2A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500000" flipH="1">
              <a:off x="7761419" y="63079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72BB073B-89FD-4B47-814B-A8EE7A1EE1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620000" flipH="1">
              <a:off x="7636645" y="68980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EEE25488-63A9-43E5-A03F-2E628C3B21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800000" flipH="1">
              <a:off x="7511871" y="75119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2BE7FDEE-BD70-4D8F-B5CE-4D03F1D00E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920000" flipH="1">
              <a:off x="7387899" y="81977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3039673A-8522-4BFC-B8B2-7F2FEAED41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040000" flipH="1">
              <a:off x="7268530" y="89316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47AB08C4-AF01-4D1D-90EA-A4113CFF99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160000" flipH="1">
              <a:off x="7152030" y="97658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FC8E7B06-FF45-4365-9DF4-E8E315A5B3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340000" flipH="1">
              <a:off x="7041695" y="106002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8F00765-F5EC-427C-A7A1-CDFA0406F2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460000" flipH="1">
              <a:off x="6931360" y="114346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2FE1EF8A-C81D-4879-9142-3697CA0BCB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580000" flipH="1">
              <a:off x="6819070" y="123586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D80C0B62-6F07-4DD2-B308-F3C29F2944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700000" flipH="1">
              <a:off x="6721359" y="133274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9C7C8CB-2D13-4138-B3C1-B78EC19B59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880000" flipH="1">
              <a:off x="6617467" y="142942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8EB1BC7E-04BC-423C-843D-7C149C25A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000000" flipH="1">
              <a:off x="6520032" y="152728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A8BA62C3-B17C-4AD0-B585-1C42ED7456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120000" flipH="1">
              <a:off x="6429579" y="164161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1B6F8BD1-22F9-4EE2-93C7-F859F3B990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240000" flipH="1">
              <a:off x="6340532" y="175042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B173F2AA-33AE-4A43-AFA9-50C60D6F68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420000" flipH="1">
              <a:off x="6261757" y="186017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16339DB1-5BB0-42C5-B12D-7555AD403D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540000" flipH="1">
              <a:off x="6184144" y="197961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1413BF1A-CE02-41EB-8977-EBE39AE0DA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660000" flipH="1">
              <a:off x="6106531" y="209906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7899680C-3DC7-4B71-8D34-7EE8306FEC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780000" flipH="1">
              <a:off x="6043206" y="222255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13B57EA5-419A-4EE0-BB93-356B12F6D0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960000" flipH="1">
              <a:off x="5978913" y="234430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37A79B15-73B1-417F-A985-25FBC893F7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080000" flipH="1">
              <a:off x="5912438" y="247067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566DE9DC-92E2-44D8-B7D0-D1295DD8F0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200000" flipH="1">
              <a:off x="5858875" y="2600922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A9A1F3CD-685D-4541-8715-91E39B1E23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320000" flipH="1">
              <a:off x="5808182" y="273404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C63E90F9-BD80-4805-A68E-CA56D52496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500000" flipH="1">
              <a:off x="5773263" y="286686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1014402D-979B-4D18-9E85-4D8F6C986F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620000" flipH="1">
              <a:off x="5735963" y="300206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2A04AE49-4B0B-4908-B1DB-480F568D28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740000" flipH="1">
              <a:off x="5700105" y="313891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3293E6AC-4EF0-4B88-AC7E-BCB112010B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860000" flipH="1">
              <a:off x="5665939" y="327548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6344B49D-AFCD-4426-AC08-F3128282C3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040000" flipH="1">
              <a:off x="5644476" y="341425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83B776AB-0884-47E4-AC8D-69A19A6103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160000" flipH="1">
              <a:off x="5626530" y="355462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01EC5397-87DB-4803-855B-44DFE9BBB8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280000" flipH="1">
              <a:off x="5616429" y="369183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18EF0075-59DA-4C16-BF01-C65EE2DDD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400000" flipH="1">
              <a:off x="5611319" y="383537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9ABF3642-CC62-4EA5-8A59-1AFF97A560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580000" flipH="1">
              <a:off x="5608540" y="397572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F7715913-AE6D-4FFC-A6EC-E7EE027D27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700000" flipH="1">
              <a:off x="5605761" y="411607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46B78CB6-17D0-445E-A523-FD18D3BE29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820000" flipH="1">
              <a:off x="5624195" y="425421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783E7655-41DA-4DFA-9DEC-FD37064F0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940000" flipH="1">
              <a:off x="5642629" y="439235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5E953697-F897-4DE0-B735-80C721129E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120000" flipH="1">
              <a:off x="5654818" y="453638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7C7CED19-0566-4D81-A59A-5A3561F1B7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240000" flipH="1">
              <a:off x="5684446" y="4671367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CE247A59-B18F-4331-BC8D-07C3DA5E8E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360000" flipH="1">
              <a:off x="5714074" y="480873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F21C3132-6A07-4EB5-A00C-2176067CB1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480000" flipH="1">
              <a:off x="5748464" y="494847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4067D677-3FA9-4187-B1CA-F6298A917C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660000" flipH="1">
              <a:off x="5792091" y="5077607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82E9FC80-B3E8-47CE-862C-9F6E9E598A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780000" flipH="1">
              <a:off x="5847441" y="521122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2D383F3C-A57C-472A-9E05-CCD8A4F8E5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900000" flipH="1">
              <a:off x="5900410" y="534245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E534D376-6ABA-4DF9-BBEA-EB5A881804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7020000" flipH="1">
              <a:off x="5955760" y="547369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0813F4D0-60CA-CE09-35F6-0AFA0E4B4B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0860" y="1651961"/>
            <a:ext cx="4671060" cy="4803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8241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13E28-97EB-135C-65CE-8551E36A5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Static BN structure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E2BE3A7-2BC8-E385-5533-F654436788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06997" y="1949033"/>
            <a:ext cx="5889032" cy="3649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1606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FF7E7-AA95-94A0-965D-BEB31D33A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Static BN Results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23E1B79-D900-ACC1-3A73-B4A9EF6523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4661" y="1399495"/>
            <a:ext cx="5619706" cy="43513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1B5C252-290B-6F04-C0E8-ED48D4247EFB}"/>
              </a:ext>
            </a:extLst>
          </p:cNvPr>
          <p:cNvSpPr txBox="1"/>
          <p:nvPr/>
        </p:nvSpPr>
        <p:spPr>
          <a:xfrm>
            <a:off x="7739743" y="5750833"/>
            <a:ext cx="2329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Accuracy = 0.83</a:t>
            </a:r>
          </a:p>
        </p:txBody>
      </p:sp>
      <p:graphicFrame>
        <p:nvGraphicFramePr>
          <p:cNvPr id="9" name="TextBox 6">
            <a:extLst>
              <a:ext uri="{FF2B5EF4-FFF2-40B4-BE49-F238E27FC236}">
                <a16:creationId xmlns:a16="http://schemas.microsoft.com/office/drawing/2014/main" id="{5C9DCB7E-3F5F-65EC-87BC-F2454AA7F94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16936480"/>
              </p:ext>
            </p:extLst>
          </p:nvPr>
        </p:nvGraphicFramePr>
        <p:xfrm>
          <a:off x="477633" y="2149847"/>
          <a:ext cx="5387090" cy="39703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500008664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0034A-DBA6-11AC-45F6-7AD6A8603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Static BN 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D7FE71-2D06-1055-4C5A-02EF0166C4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2000" dirty="0"/>
              <a:t>Problem: Weather is inherently impacted by temporal factors.</a:t>
            </a:r>
          </a:p>
          <a:p>
            <a:pPr>
              <a:lnSpc>
                <a:spcPct val="200000"/>
              </a:lnSpc>
            </a:pPr>
            <a:r>
              <a:rPr lang="en-US" sz="2000" dirty="0"/>
              <a:t>Yesterday’s weather impacts today’s weather. </a:t>
            </a:r>
          </a:p>
          <a:p>
            <a:pPr>
              <a:lnSpc>
                <a:spcPct val="200000"/>
              </a:lnSpc>
            </a:pPr>
            <a:r>
              <a:rPr lang="en-US" sz="2000" dirty="0"/>
              <a:t>A static BN can’t forecast future weather conditions.</a:t>
            </a:r>
          </a:p>
          <a:p>
            <a:pPr>
              <a:lnSpc>
                <a:spcPct val="200000"/>
              </a:lnSpc>
            </a:pPr>
            <a:r>
              <a:rPr lang="en-US" sz="2000" dirty="0"/>
              <a:t>Solution: Expand the BN to a 2 time slice BN where every row is paired with yesterday’s variables. </a:t>
            </a:r>
          </a:p>
        </p:txBody>
      </p:sp>
    </p:spTree>
    <p:extLst>
      <p:ext uri="{BB962C8B-B14F-4D97-AF65-F5344CB8AC3E}">
        <p14:creationId xmlns:p14="http://schemas.microsoft.com/office/powerpoint/2010/main" val="2145679370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40441-7DB5-F88C-ED9B-664A0E2ED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BN (2 Time Slice)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DE431D-1411-55D7-F1A7-3DFDDC6F62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2000" dirty="0"/>
              <a:t>Uses interslice edges and intra slice edges.</a:t>
            </a:r>
          </a:p>
          <a:p>
            <a:pPr>
              <a:lnSpc>
                <a:spcPct val="200000"/>
              </a:lnSpc>
            </a:pPr>
            <a:r>
              <a:rPr lang="en-US" sz="2000" dirty="0"/>
              <a:t>Inter slice edges: Capture temporal persistence (cold air masses linger) and lagged atmospheric influence (yesterday’s pressure impacts today’s temperature)</a:t>
            </a:r>
          </a:p>
          <a:p>
            <a:pPr>
              <a:lnSpc>
                <a:spcPct val="200000"/>
              </a:lnSpc>
            </a:pPr>
            <a:r>
              <a:rPr lang="en-US" sz="2000" dirty="0"/>
              <a:t>Intra slice edges: Capture same day causality (same as static BN)</a:t>
            </a:r>
          </a:p>
        </p:txBody>
      </p:sp>
    </p:spTree>
    <p:extLst>
      <p:ext uri="{BB962C8B-B14F-4D97-AF65-F5344CB8AC3E}">
        <p14:creationId xmlns:p14="http://schemas.microsoft.com/office/powerpoint/2010/main" val="67497330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6AF6706C-CF07-43A1-BCC4-CBA5D3382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FC959FC-0DF7-6E4D-88F0-8104D52A0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636" y="656220"/>
            <a:ext cx="4789678" cy="238987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800" dirty="0"/>
              <a:t>Dynamic BN</a:t>
            </a:r>
            <a:br>
              <a:rPr lang="en-US" sz="4800" dirty="0"/>
            </a:br>
            <a:r>
              <a:rPr lang="en-US" sz="4800" dirty="0"/>
              <a:t>(2 Time Slice) Structure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34F63F-974C-B93D-BA2E-6F393D4D45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6606" y="656220"/>
            <a:ext cx="5471927" cy="5541192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A427475-5C76-C2A4-31BD-A89F67630109}"/>
              </a:ext>
            </a:extLst>
          </p:cNvPr>
          <p:cNvSpPr txBox="1"/>
          <p:nvPr/>
        </p:nvSpPr>
        <p:spPr>
          <a:xfrm>
            <a:off x="365761" y="3927107"/>
            <a:ext cx="50705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Introduction of previous-day variables and cross variable influences (Yesterday’s pressure affects today’s temperature, yesterday’s temperature affects today’s moisture)</a:t>
            </a:r>
          </a:p>
        </p:txBody>
      </p:sp>
    </p:spTree>
    <p:extLst>
      <p:ext uri="{BB962C8B-B14F-4D97-AF65-F5344CB8AC3E}">
        <p14:creationId xmlns:p14="http://schemas.microsoft.com/office/powerpoint/2010/main" val="379734887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77B32-DE7C-C0FA-2CD2-81568E141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63FC5F-4AFB-B172-AB47-8053F2F88D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2000" dirty="0"/>
              <a:t>Verify the integrity of our model by testing against a baseline. </a:t>
            </a:r>
          </a:p>
          <a:p>
            <a:pPr>
              <a:lnSpc>
                <a:spcPct val="200000"/>
              </a:lnSpc>
            </a:pPr>
            <a:r>
              <a:rPr lang="en-US" sz="2000" dirty="0"/>
              <a:t>Naïve persistence baseline: Tomorrow’s weather will match today’s weather.</a:t>
            </a:r>
          </a:p>
        </p:txBody>
      </p:sp>
    </p:spTree>
    <p:extLst>
      <p:ext uri="{BB962C8B-B14F-4D97-AF65-F5344CB8AC3E}">
        <p14:creationId xmlns:p14="http://schemas.microsoft.com/office/powerpoint/2010/main" val="2796745068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9D33A-F165-2462-07D4-82EE85666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BN Results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614934B-FA08-BD20-B335-6B4E7FFC15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0" y="1253331"/>
            <a:ext cx="5619706" cy="43513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F3F5D71-9FB6-05D7-E1B7-BDB4E02E0832}"/>
              </a:ext>
            </a:extLst>
          </p:cNvPr>
          <p:cNvSpPr txBox="1"/>
          <p:nvPr/>
        </p:nvSpPr>
        <p:spPr>
          <a:xfrm>
            <a:off x="7739743" y="5750833"/>
            <a:ext cx="2329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Accuracy = 0.79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E5193E-5C2A-D093-6A00-FA836CAF1613}"/>
              </a:ext>
            </a:extLst>
          </p:cNvPr>
          <p:cNvSpPr txBox="1"/>
          <p:nvPr/>
        </p:nvSpPr>
        <p:spPr>
          <a:xfrm>
            <a:off x="685801" y="2766653"/>
            <a:ext cx="424433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The DBN misses rainy days like the static BN.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9851189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A1F40-A851-71AB-5D4A-7C4EE7F42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BN Results vs. Baseline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A80D46D-31D9-03F4-DCD6-FBB83CAB04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9439" y="3182725"/>
            <a:ext cx="5249008" cy="14194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EA5E244-62B3-DCBA-C5AA-6B30DABF04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3555" y="3182725"/>
            <a:ext cx="5239481" cy="143847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A154F3A-8551-B723-6626-641041904192}"/>
              </a:ext>
            </a:extLst>
          </p:cNvPr>
          <p:cNvSpPr txBox="1"/>
          <p:nvPr/>
        </p:nvSpPr>
        <p:spPr>
          <a:xfrm>
            <a:off x="2068285" y="2659505"/>
            <a:ext cx="23513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Dynamic BN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BD11D8-E16D-1864-D29B-F9C6B9CD5AFE}"/>
              </a:ext>
            </a:extLst>
          </p:cNvPr>
          <p:cNvSpPr txBox="1"/>
          <p:nvPr/>
        </p:nvSpPr>
        <p:spPr>
          <a:xfrm>
            <a:off x="8066314" y="2659505"/>
            <a:ext cx="23513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Baseline</a:t>
            </a:r>
          </a:p>
        </p:txBody>
      </p:sp>
    </p:spTree>
    <p:extLst>
      <p:ext uri="{BB962C8B-B14F-4D97-AF65-F5344CB8AC3E}">
        <p14:creationId xmlns:p14="http://schemas.microsoft.com/office/powerpoint/2010/main" val="4214346084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EEC9F-C1A1-F42D-19F3-25F9A98D4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BN Results vs. Baseline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2429ED2-0C87-F87F-408B-5E4F927A3F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96681" y="3429000"/>
            <a:ext cx="4887007" cy="139084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64F638A-A723-356E-1445-B7D7D6C02C3E}"/>
              </a:ext>
            </a:extLst>
          </p:cNvPr>
          <p:cNvSpPr txBox="1"/>
          <p:nvPr/>
        </p:nvSpPr>
        <p:spPr>
          <a:xfrm>
            <a:off x="3755569" y="2905780"/>
            <a:ext cx="41692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Brier Score Comparison</a:t>
            </a:r>
          </a:p>
        </p:txBody>
      </p:sp>
    </p:spTree>
    <p:extLst>
      <p:ext uri="{BB962C8B-B14F-4D97-AF65-F5344CB8AC3E}">
        <p14:creationId xmlns:p14="http://schemas.microsoft.com/office/powerpoint/2010/main" val="885142682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0E53EDA-3B94-4F6B-9E86-D3BB9EBB96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F18073-E153-6C60-84DC-D3F5EFB03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" y="1150076"/>
            <a:ext cx="3659389" cy="4557849"/>
          </a:xfrm>
        </p:spPr>
        <p:txBody>
          <a:bodyPr>
            <a:normAutofit/>
          </a:bodyPr>
          <a:lstStyle/>
          <a:p>
            <a:pPr algn="r"/>
            <a:r>
              <a:rPr lang="en-US" dirty="0"/>
              <a:t>Latent DBN</a:t>
            </a:r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0EFD79F-7790-479B-B7DB-BD0D8C101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66923" y="1668780"/>
            <a:ext cx="0" cy="352044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7E4AAB-75BA-157A-6C5B-80AD9092D0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8658" y="388620"/>
            <a:ext cx="6517543" cy="6088380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US" sz="6000" dirty="0"/>
              <a:t>Problem: Observed variables don’t capture hidden atmospheric regimes (large scale events that influence many variables at once).</a:t>
            </a:r>
          </a:p>
          <a:p>
            <a:pPr marL="0" indent="0">
              <a:buNone/>
            </a:pPr>
            <a:endParaRPr lang="en-US" sz="6000" dirty="0"/>
          </a:p>
          <a:p>
            <a:pPr marL="0" indent="0">
              <a:buNone/>
            </a:pPr>
            <a:r>
              <a:rPr lang="en-US" sz="6000" dirty="0"/>
              <a:t>Solution: Use Gaussian Hidden Markov Model (HMM) .</a:t>
            </a:r>
          </a:p>
          <a:p>
            <a:pPr marL="0" indent="0">
              <a:buNone/>
            </a:pPr>
            <a:endParaRPr lang="en-US" sz="6000" dirty="0"/>
          </a:p>
          <a:p>
            <a:pPr marL="0" indent="0">
              <a:buNone/>
            </a:pPr>
            <a:r>
              <a:rPr lang="en-US" sz="6000" dirty="0"/>
              <a:t>Approach: </a:t>
            </a:r>
          </a:p>
          <a:p>
            <a:r>
              <a:rPr lang="en-US" sz="6000" dirty="0"/>
              <a:t>Fit a Gaussian Hidden Markov Model (HMM) on continuous weather variables to infer a small number of persistent hidden states (regimes).</a:t>
            </a:r>
          </a:p>
          <a:p>
            <a:r>
              <a:rPr lang="en-US" sz="6000" dirty="0"/>
              <a:t>Use HMM-decoded regime labels as a training-time proxy for the latent variable.</a:t>
            </a:r>
          </a:p>
          <a:p>
            <a:r>
              <a:rPr lang="en-US" sz="6000" dirty="0"/>
              <a:t>In the DBN, treat REGIME as hidden at forecast time — the model infers the regime distribution from previous-day observations and integrates over that uncertainty when predicting weather events.</a:t>
            </a:r>
          </a:p>
          <a:p>
            <a:pPr marL="0" indent="0">
              <a:buNone/>
            </a:pP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2543440060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075B2-5A88-07B6-FD90-9EE71B64B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Latent DBN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959ADC-FDD8-6C21-E77A-01B9EE5E64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346473" cy="1603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Results are an approximation because the HMM regimes are used as hidden variables rather than observed same day variables.</a:t>
            </a:r>
          </a:p>
          <a:p>
            <a:pPr marL="0" indent="0">
              <a:buNone/>
            </a:pPr>
            <a:r>
              <a:rPr lang="en-US" sz="2000" dirty="0"/>
              <a:t>(500 row sample)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D5054CD-23AC-C71D-F3D8-B41CB47D36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1957" y="3563937"/>
            <a:ext cx="6858957" cy="1362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166148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EF86C8-A5F8-39F9-1509-280A3DEDE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18912-16BE-14E6-833B-B24C667B0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Latent DBN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65BF3F-B9CC-BEBA-2609-3525F93D0C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2064" y="1874720"/>
            <a:ext cx="10346473" cy="2335201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200000"/>
              </a:lnSpc>
            </a:pPr>
            <a:r>
              <a:rPr lang="en-US" dirty="0"/>
              <a:t>The latent DBN model identifies 3 atmospheric patterns. </a:t>
            </a:r>
          </a:p>
          <a:p>
            <a:pPr>
              <a:lnSpc>
                <a:spcPct val="200000"/>
              </a:lnSpc>
            </a:pPr>
            <a:r>
              <a:rPr lang="en-US" dirty="0"/>
              <a:t>Regime 0 corresponds to a clear moderate day. </a:t>
            </a:r>
          </a:p>
          <a:p>
            <a:pPr>
              <a:lnSpc>
                <a:spcPct val="200000"/>
              </a:lnSpc>
            </a:pPr>
            <a:r>
              <a:rPr lang="en-US" dirty="0"/>
              <a:t>Regime 1 corresponds to colder days with little rain. </a:t>
            </a:r>
          </a:p>
          <a:p>
            <a:pPr>
              <a:lnSpc>
                <a:spcPct val="200000"/>
              </a:lnSpc>
            </a:pPr>
            <a:r>
              <a:rPr lang="en-US" dirty="0"/>
              <a:t>Regime 2 corresponds to warmer, humid days with some rain.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5251B4A-922C-03DE-AAEC-698C5FA9D1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5389" y="4706347"/>
            <a:ext cx="8221222" cy="109552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A57AF27-FB79-836B-37B0-7085BFF1F9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6694" y="2489793"/>
            <a:ext cx="3810532" cy="1105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461659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8D7A6-4253-DE9D-9152-54F8DF7C4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Comparison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BA31AF-4856-0E94-037A-F66FC59E2F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593580" cy="20438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Comparison of the 4 models using Macro-F1 scores due to the imbalance in the data, making sure no-event and event are weighted equally.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C545E1-5000-F4CD-10CC-7F496FD25B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1758" y="4144819"/>
            <a:ext cx="6868484" cy="1390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433599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82EEF-3458-EBBB-BBC9-7B9FDA26B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F4A4B0-8C70-039D-FFBB-7C85547DDB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persistence baseline is strong for rare events; the BN models tend to not predict the events which hurt their overall strength. This is seen for the DBN and the latent DBN where their macro-F1 scores are hurt the most.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Limitations:</a:t>
            </a:r>
          </a:p>
          <a:p>
            <a:pPr>
              <a:buFontTx/>
              <a:buChar char="-"/>
            </a:pPr>
            <a:r>
              <a:rPr lang="en-US" dirty="0"/>
              <a:t>Limited by the scale of the dataset (only utilizing one year). </a:t>
            </a:r>
          </a:p>
          <a:p>
            <a:pPr>
              <a:buFontTx/>
              <a:buChar char="-"/>
            </a:pPr>
            <a:r>
              <a:rPr lang="en-US" dirty="0"/>
              <a:t>Dataset is global, more localized sets may yield better results for the models (more distinct patterns)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0034600"/>
      </p:ext>
    </p:extLst>
  </p:cSld>
  <p:clrMapOvr>
    <a:masterClrMapping/>
  </p:clrMapOvr>
  <p:transition spd="slow">
    <p:push dir="u"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287</TotalTime>
  <Words>648</Words>
  <Application>Microsoft Office PowerPoint</Application>
  <PresentationFormat>Widescreen</PresentationFormat>
  <Paragraphs>67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Arial</vt:lpstr>
      <vt:lpstr>Calibri</vt:lpstr>
      <vt:lpstr>Calibri Light</vt:lpstr>
      <vt:lpstr>Celestial</vt:lpstr>
      <vt:lpstr>Weather Forecasting using Bayesian Networks </vt:lpstr>
      <vt:lpstr>Objectives</vt:lpstr>
      <vt:lpstr>The Dataset </vt:lpstr>
      <vt:lpstr>Static BN Structure</vt:lpstr>
      <vt:lpstr>Static BN structure</vt:lpstr>
      <vt:lpstr>Static BN Results</vt:lpstr>
      <vt:lpstr>Static BN Limitations</vt:lpstr>
      <vt:lpstr>Dynamic BN (2 Time Slice)</vt:lpstr>
      <vt:lpstr>Dynamic BN (2 Time Slice) Structure</vt:lpstr>
      <vt:lpstr>Baseline</vt:lpstr>
      <vt:lpstr>Dynamic BN Results</vt:lpstr>
      <vt:lpstr>Dynamic BN Results vs. Baseline</vt:lpstr>
      <vt:lpstr>Dynamic BN Results vs. Baseline</vt:lpstr>
      <vt:lpstr>Latent DBN</vt:lpstr>
      <vt:lpstr>Latent DBN Results</vt:lpstr>
      <vt:lpstr>Latent DBN Results</vt:lpstr>
      <vt:lpstr>Model Comparison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Dang, Hunter Quan</dc:creator>
  <cp:lastModifiedBy>Dang, Hunter Quan</cp:lastModifiedBy>
  <cp:revision>25</cp:revision>
  <dcterms:created xsi:type="dcterms:W3CDTF">2026-04-29T01:56:41Z</dcterms:created>
  <dcterms:modified xsi:type="dcterms:W3CDTF">2026-04-29T22:14:58Z</dcterms:modified>
</cp:coreProperties>
</file>